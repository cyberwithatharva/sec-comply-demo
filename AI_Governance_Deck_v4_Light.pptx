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0" y="-1097280"/>
            <a:ext cx="4572000" cy="4572000"/>
          </a:xfrm>
          <a:prstGeom prst="roundRect">
            <a:avLst>
              <a:gd name="adj" fmla="val 12000"/>
            </a:avLst>
          </a:prstGeom>
          <a:solidFill>
            <a:srgbClr val="ECFEFF"/>
          </a:solidFill>
          <a:ln/>
        </p:spPr>
      </p:sp>
      <p:sp>
        <p:nvSpPr>
          <p:cNvPr id="4" name="Shape 1"/>
          <p:cNvSpPr/>
          <p:nvPr/>
        </p:nvSpPr>
        <p:spPr>
          <a:xfrm>
            <a:off x="6583680" y="-457200"/>
            <a:ext cx="3657600" cy="3657600"/>
          </a:xfrm>
          <a:prstGeom prst="roundRect">
            <a:avLst>
              <a:gd name="adj" fmla="val 12500"/>
            </a:avLst>
          </a:prstGeom>
          <a:solidFill>
            <a:srgbClr val="A5F3FC">
              <a:alpha val="50000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008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1520" y="13716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Governance</a:t>
            </a:r>
            <a:endParaRPr lang="en-US" sz="4800" dirty="0"/>
          </a:p>
        </p:txBody>
      </p:sp>
      <p:sp>
        <p:nvSpPr>
          <p:cNvPr id="7" name="Text 3"/>
          <p:cNvSpPr/>
          <p:nvPr/>
        </p:nvSpPr>
        <p:spPr>
          <a:xfrm>
            <a:off x="731520" y="23317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Compliance &amp; Security Imperative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731520" y="2971800"/>
            <a:ext cx="1097280" cy="54864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&amp; Leadership Briefing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31520" y="3611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0" y="5029200"/>
            <a:ext cx="9144000" cy="114300"/>
          </a:xfrm>
          <a:prstGeom prst="roundRect">
            <a:avLst>
              <a:gd name="adj" fmla="val 48000"/>
            </a:avLst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1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64008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Conversation, Why Now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40080" y="822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forces are converging that make AI governance a board-level priority.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457200" y="128016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640080" y="1463040"/>
            <a:ext cx="457200" cy="54864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</p:sp>
      <p:sp>
        <p:nvSpPr>
          <p:cNvPr id="10" name="Text 6"/>
          <p:cNvSpPr/>
          <p:nvPr/>
        </p:nvSpPr>
        <p:spPr>
          <a:xfrm>
            <a:off x="640080" y="16459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11" name="Shape 7"/>
          <p:cNvSpPr/>
          <p:nvPr/>
        </p:nvSpPr>
        <p:spPr>
          <a:xfrm>
            <a:off x="2377440" y="1691640"/>
            <a:ext cx="457200" cy="457200"/>
          </a:xfrm>
          <a:prstGeom prst="ellipse">
            <a:avLst/>
          </a:prstGeom>
          <a:solidFill>
            <a:srgbClr val="ECFE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592" y="1764792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1945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Acceleration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40080" y="29260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enforcement has begun. India's DPDP Act carries AI implications. Sector rules in BFSI, healthcare, and education are tightening globally.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3291840" y="128016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3474720" y="1463040"/>
            <a:ext cx="457200" cy="5486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17" name="Text 12"/>
          <p:cNvSpPr/>
          <p:nvPr/>
        </p:nvSpPr>
        <p:spPr>
          <a:xfrm>
            <a:off x="3474720" y="16459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8" name="Shape 13"/>
          <p:cNvSpPr/>
          <p:nvPr/>
        </p:nvSpPr>
        <p:spPr>
          <a:xfrm>
            <a:off x="5212080" y="1691640"/>
            <a:ext cx="457200" cy="457200"/>
          </a:xfrm>
          <a:prstGeom prst="ellipse">
            <a:avLst/>
          </a:prstGeom>
          <a:solidFill>
            <a:srgbClr val="FFFBEB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32" y="176479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474720" y="21945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Buyer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Expectations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3474720" y="29260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customers now demand AI governance evidence in procurement, RFPs, and vendor risk assessments. It's becoming a deal-breaker.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126480" y="128016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309360" y="1463040"/>
            <a:ext cx="457200" cy="54864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6309360" y="16459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25" name="Shape 19"/>
          <p:cNvSpPr/>
          <p:nvPr/>
        </p:nvSpPr>
        <p:spPr>
          <a:xfrm>
            <a:off x="8046720" y="1691640"/>
            <a:ext cx="457200" cy="4572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872" y="1764792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309360" y="21945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Reputational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Stakes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6309360" y="29260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largest AI company, a single governance failure becomes headline news. Market leaders are targets — and examples.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57200" y="4617720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63500" dist="12700" dir="8100000">
              <a:srgbClr val="94A3B8">
                <a:alpha val="12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"Market leaders don't wait for regulation — they set the standard."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1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AI Governance Actually Means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40080" y="822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interlocking disciplines that protect your AI investments.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40080" y="1325880"/>
            <a:ext cx="78638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68680" y="1691640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6"/>
          <p:cNvSpPr/>
          <p:nvPr/>
        </p:nvSpPr>
        <p:spPr>
          <a:xfrm>
            <a:off x="1051560" y="14173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0891B2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1600200" y="14356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Risk Management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600200" y="1783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Identifying, classifying, and mitigating risks across the entire AI lifecycle — from training data to production outputs.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40080" y="2468880"/>
            <a:ext cx="78638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68680" y="283464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1"/>
          <p:cNvSpPr/>
          <p:nvPr/>
        </p:nvSpPr>
        <p:spPr>
          <a:xfrm>
            <a:off x="1051560" y="25603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7C3AED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1600200" y="25786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Compliance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600200" y="2926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regulatory, contractual, and industry-standard obligations. Demonstrating adherence to ISO 42001, EU AI Act, and sector rules.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40080" y="3611880"/>
            <a:ext cx="78638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68680" y="3977640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0" name="Text 16"/>
          <p:cNvSpPr/>
          <p:nvPr/>
        </p:nvSpPr>
        <p:spPr>
          <a:xfrm>
            <a:off x="1051560" y="37033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D97706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7"/>
          <p:cNvSpPr/>
          <p:nvPr/>
        </p:nvSpPr>
        <p:spPr>
          <a:xfrm>
            <a:off x="1600200" y="37216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Security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1600200" y="4069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models, training data, inference pipelines, and outputs from adversarial threats, data leakage, and operational failures.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1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64008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Exposure: Risk Across Three Verticals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640080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is not one-size-fits-all. Each product carries a distinct risk profile.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57200" y="1188720"/>
            <a:ext cx="2606040" cy="35204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66928" y="1298448"/>
            <a:ext cx="2386584" cy="54864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89888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133502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914400" y="2011680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914400" y="20116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685800" y="242316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bias in credit &amp; lending</a:t>
            </a:r>
            <a:endParaRPr lang="en-US" sz="105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mandates (BFSI)</a:t>
            </a:r>
            <a:endParaRPr lang="en-US" sz="105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 &amp; auditability</a:t>
            </a:r>
            <a:endParaRPr lang="en-US" sz="105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scrutiny (RBI, SEBI, EU)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3291840" y="1188720"/>
            <a:ext cx="2606040" cy="35204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3401568" y="1298448"/>
            <a:ext cx="2386584" cy="54864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389888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931920" y="133502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3749040" y="2011680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 w="6350">
            <a:solidFill>
              <a:srgbClr val="EA580C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3749040" y="20116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MEDIUM-HIGH RISK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3520440" y="242316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 privacy (minors)</a:t>
            </a:r>
            <a:endParaRPr lang="en-US" sz="105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Age-related data protection</a:t>
            </a:r>
            <a:endParaRPr lang="en-US" sz="105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hallucination risk</a:t>
            </a:r>
            <a:endParaRPr lang="en-US" sz="105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in assessments / recs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126480" y="1188720"/>
            <a:ext cx="2606040" cy="35204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236208" y="1298448"/>
            <a:ext cx="2386584" cy="548640"/>
          </a:xfrm>
          <a:prstGeom prst="roundRect">
            <a:avLst>
              <a:gd name="adj" fmla="val 13333"/>
            </a:avLst>
          </a:prstGeom>
          <a:solidFill>
            <a:srgbClr val="D97706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389888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766560" y="133502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CX</a:t>
            </a:r>
            <a:endParaRPr lang="en-US" sz="1800" dirty="0"/>
          </a:p>
        </p:txBody>
      </p:sp>
      <p:sp>
        <p:nvSpPr>
          <p:cNvPr id="26" name="Shape 19"/>
          <p:cNvSpPr/>
          <p:nvPr/>
        </p:nvSpPr>
        <p:spPr>
          <a:xfrm>
            <a:off x="6583680" y="2011680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6583680" y="20116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800" dirty="0"/>
          </a:p>
        </p:txBody>
      </p:sp>
      <p:sp>
        <p:nvSpPr>
          <p:cNvPr id="28" name="Text 21"/>
          <p:cNvSpPr/>
          <p:nvPr/>
        </p:nvSpPr>
        <p:spPr>
          <a:xfrm>
            <a:off x="6355080" y="242316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handling in conversations</a:t>
            </a:r>
            <a:endParaRPr lang="en-US" sz="105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&amp; impersonation threats</a:t>
            </a:r>
            <a:endParaRPr lang="en-US" sz="105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Off-brand / harmful outputs</a:t>
            </a:r>
            <a:endParaRPr lang="en-US" sz="105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trust &amp; transparency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0" y="-914400"/>
            <a:ext cx="3657600" cy="3657600"/>
          </a:xfrm>
          <a:prstGeom prst="roundRect">
            <a:avLst>
              <a:gd name="adj" fmla="val 12500"/>
            </a:avLst>
          </a:prstGeom>
          <a:solidFill>
            <a:srgbClr val="06B6D4">
              <a:alpha val="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40080" y="182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40080" y="4114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GUARD Framework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4008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approach to AI governance — from visibility to defense.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4173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1481328"/>
            <a:ext cx="420624" cy="420624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14356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1691640" y="1463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691640" y="169164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policies, roles, and accountability. Define who owns AI governance at board, leadership, and operational levels.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57200" y="2075688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640080" y="2139696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1284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4440" y="2093976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</a:t>
            </a:r>
            <a:endParaRPr lang="en-US" sz="2800" dirty="0"/>
          </a:p>
        </p:txBody>
      </p:sp>
      <p:sp>
        <p:nvSpPr>
          <p:cNvPr id="19" name="Text 14"/>
          <p:cNvSpPr/>
          <p:nvPr/>
        </p:nvSpPr>
        <p:spPr>
          <a:xfrm>
            <a:off x="1691640" y="21214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691640" y="2350008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all AI systems — built and bought. Map data flows, model dependencies, and third-party AI. You can't govern what you can't see.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57200" y="2734056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640080" y="2798064"/>
            <a:ext cx="420624" cy="420624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71216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34440" y="2752344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800" dirty="0"/>
          </a:p>
        </p:txBody>
      </p:sp>
      <p:sp>
        <p:nvSpPr>
          <p:cNvPr id="25" name="Text 19"/>
          <p:cNvSpPr/>
          <p:nvPr/>
        </p:nvSpPr>
        <p:spPr>
          <a:xfrm>
            <a:off x="1691640" y="27797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691640" y="3008376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each AI system by risk tier. Evaluate across verticals. Run gap analysis against regulatory requirements and benchmarks.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457200" y="3392424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8" name="Shape 22"/>
          <p:cNvSpPr/>
          <p:nvPr/>
        </p:nvSpPr>
        <p:spPr>
          <a:xfrm>
            <a:off x="640080" y="3456432"/>
            <a:ext cx="420624" cy="420624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529584"/>
            <a:ext cx="237744" cy="23774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234440" y="341071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2800" dirty="0"/>
          </a:p>
        </p:txBody>
      </p:sp>
      <p:sp>
        <p:nvSpPr>
          <p:cNvPr id="31" name="Text 24"/>
          <p:cNvSpPr/>
          <p:nvPr/>
        </p:nvSpPr>
        <p:spPr>
          <a:xfrm>
            <a:off x="1691640" y="34381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1691640" y="3666744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lifecycle controls — design through deployment to monitoring. Build audit trails and compliance evidence.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457200" y="4050792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4" name="Shape 27"/>
          <p:cNvSpPr/>
          <p:nvPr/>
        </p:nvSpPr>
        <p:spPr>
          <a:xfrm>
            <a:off x="640080" y="4114800"/>
            <a:ext cx="420624" cy="420624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187952"/>
            <a:ext cx="237744" cy="23774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234440" y="40690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800" dirty="0"/>
          </a:p>
        </p:txBody>
      </p:sp>
      <p:sp>
        <p:nvSpPr>
          <p:cNvPr id="37" name="Text 29"/>
          <p:cNvSpPr/>
          <p:nvPr/>
        </p:nvSpPr>
        <p:spPr>
          <a:xfrm>
            <a:off x="1691640" y="40965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1691640" y="4325112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 — adversarial testing, prompt injection defenses, incident response, output monitoring, third-party risk mitigation.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457200" y="4754880"/>
            <a:ext cx="8229600" cy="274320"/>
          </a:xfrm>
          <a:prstGeom prst="roundRect">
            <a:avLst>
              <a:gd name="adj" fmla="val 26667"/>
            </a:avLst>
          </a:prstGeom>
          <a:solidFill>
            <a:srgbClr val="06B6D4">
              <a:alpha val="15000"/>
            </a:srgbClr>
          </a:solidFill>
          <a:ln/>
        </p:spPr>
      </p:sp>
      <p:sp>
        <p:nvSpPr>
          <p:cNvPr id="40" name="Text 3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future governance conversation starts with: "Where are we on GUARD?"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1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 Across Our Three Verticals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640080" y="7772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framework, different risk weights.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365760" y="1097280"/>
            <a:ext cx="8412480" cy="3813048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429768" y="1152144"/>
            <a:ext cx="1152144" cy="329184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/>
        </p:spPr>
      </p:sp>
      <p:sp>
        <p:nvSpPr>
          <p:cNvPr id="10" name="Text 6"/>
          <p:cNvSpPr/>
          <p:nvPr/>
        </p:nvSpPr>
        <p:spPr>
          <a:xfrm>
            <a:off x="411480" y="11247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1618488" y="1152144"/>
            <a:ext cx="2386584" cy="329184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/>
        </p:spPr>
      </p:sp>
      <p:sp>
        <p:nvSpPr>
          <p:cNvPr id="12" name="Text 8"/>
          <p:cNvSpPr/>
          <p:nvPr/>
        </p:nvSpPr>
        <p:spPr>
          <a:xfrm>
            <a:off x="1600200" y="112471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041648" y="1152144"/>
            <a:ext cx="2386584" cy="329184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</p:sp>
      <p:sp>
        <p:nvSpPr>
          <p:cNvPr id="14" name="Text 10"/>
          <p:cNvSpPr/>
          <p:nvPr/>
        </p:nvSpPr>
        <p:spPr>
          <a:xfrm>
            <a:off x="4023360" y="112471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64808" y="1152144"/>
            <a:ext cx="2249424" cy="329184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/>
        </p:spPr>
      </p:sp>
      <p:sp>
        <p:nvSpPr>
          <p:cNvPr id="16" name="Text 12"/>
          <p:cNvSpPr/>
          <p:nvPr/>
        </p:nvSpPr>
        <p:spPr>
          <a:xfrm>
            <a:off x="6446520" y="11247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02920" y="1810512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4"/>
          <p:cNvSpPr/>
          <p:nvPr/>
        </p:nvSpPr>
        <p:spPr>
          <a:xfrm>
            <a:off x="685800" y="155448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— Govern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673352" y="155448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Board-level AI ethics committee; BFSI compliance officer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4096512" y="155448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officer; student privacy owner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6519672" y="155448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AI policy owner; output quality lead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502920" y="2212848"/>
            <a:ext cx="8138160" cy="45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3" name="Shape 19"/>
          <p:cNvSpPr/>
          <p:nvPr/>
        </p:nvSpPr>
        <p:spPr>
          <a:xfrm>
            <a:off x="502920" y="2468880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20"/>
          <p:cNvSpPr/>
          <p:nvPr/>
        </p:nvSpPr>
        <p:spPr>
          <a:xfrm>
            <a:off x="685800" y="221284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— Understand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673352" y="221284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credit-scoring &amp; risk models; full data lineage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4096512" y="221284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student-facing AI; training data audit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6519672" y="221284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chatbots, rec engines, voice AI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502920" y="2871216"/>
            <a:ext cx="8138160" cy="45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9" name="Shape 25"/>
          <p:cNvSpPr/>
          <p:nvPr/>
        </p:nvSpPr>
        <p:spPr>
          <a:xfrm>
            <a:off x="502920" y="312724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0" name="Text 26"/>
          <p:cNvSpPr/>
          <p:nvPr/>
        </p:nvSpPr>
        <p:spPr>
          <a:xfrm>
            <a:off x="685800" y="2871216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Assess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673352" y="287121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classification; bias testing on financial decisions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4096512" y="287121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Medium-high risk; fairness audit on assessments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6519672" y="287121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risk; PII exposure &amp; output quality review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502920" y="3529584"/>
            <a:ext cx="8138160" cy="45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5" name="Shape 31"/>
          <p:cNvSpPr/>
          <p:nvPr/>
        </p:nvSpPr>
        <p:spPr>
          <a:xfrm>
            <a:off x="502920" y="3785616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6" name="Text 32"/>
          <p:cNvSpPr/>
          <p:nvPr/>
        </p:nvSpPr>
        <p:spPr>
          <a:xfrm>
            <a:off x="685800" y="352958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— Regulate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1673352" y="352958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controls; audit trails; model versioning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4096512" y="352958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Age-appropriate data handling; content review gates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6519672" y="352958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guardrails; brand safety filters; escalation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502920" y="4187952"/>
            <a:ext cx="8138160" cy="45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1" name="Shape 37"/>
          <p:cNvSpPr/>
          <p:nvPr/>
        </p:nvSpPr>
        <p:spPr>
          <a:xfrm>
            <a:off x="502920" y="4443984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2" name="Text 38"/>
          <p:cNvSpPr/>
          <p:nvPr/>
        </p:nvSpPr>
        <p:spPr>
          <a:xfrm>
            <a:off x="685800" y="4187952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Defend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1673352" y="418795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testing; fraud detection hardening</a:t>
            </a:r>
            <a:endParaRPr lang="en-US" sz="850" dirty="0"/>
          </a:p>
        </p:txBody>
      </p:sp>
      <p:sp>
        <p:nvSpPr>
          <p:cNvPr id="44" name="Text 40"/>
          <p:cNvSpPr/>
          <p:nvPr/>
        </p:nvSpPr>
        <p:spPr>
          <a:xfrm>
            <a:off x="4096512" y="418795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encryption; access controls for student data</a:t>
            </a:r>
            <a:endParaRPr lang="en-US" sz="850" dirty="0"/>
          </a:p>
        </p:txBody>
      </p:sp>
      <p:sp>
        <p:nvSpPr>
          <p:cNvPr id="45" name="Text 41"/>
          <p:cNvSpPr/>
          <p:nvPr/>
        </p:nvSpPr>
        <p:spPr>
          <a:xfrm>
            <a:off x="6519672" y="418795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defense; deepfake detection; DLP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800" dirty="0"/>
          </a:p>
        </p:txBody>
      </p:sp>
      <p:sp>
        <p:nvSpPr>
          <p:cNvPr id="5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2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Threat Landscape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40080" y="822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keeps CISOs up at night — and should concern every board member.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365760" y="1188720"/>
            <a:ext cx="1965960" cy="34290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1024128" y="1417320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536192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7200" y="2103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Risks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1005840" y="2468880"/>
            <a:ext cx="594360" cy="36576"/>
          </a:xfrm>
          <a:prstGeom prst="roundRect">
            <a:avLst>
              <a:gd name="adj" fmla="val 50000"/>
            </a:avLst>
          </a:prstGeom>
          <a:solidFill>
            <a:srgbClr val="D97706">
              <a:alpha val="50000"/>
            </a:srgbClr>
          </a:solidFill>
          <a:ln/>
        </p:spPr>
      </p:sp>
      <p:sp>
        <p:nvSpPr>
          <p:cNvPr id="13" name="Text 8"/>
          <p:cNvSpPr/>
          <p:nvPr/>
        </p:nvSpPr>
        <p:spPr>
          <a:xfrm>
            <a:off x="502920" y="260604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poisoning</a:t>
            </a:r>
            <a:endParaRPr lang="en-US" sz="10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leakage in datasets</a:t>
            </a:r>
            <a:endParaRPr lang="en-US" sz="10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contamination</a:t>
            </a:r>
            <a:endParaRPr lang="en-US" sz="10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Unlicensed data usage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2514600" y="1188720"/>
            <a:ext cx="1965960" cy="34290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172968" y="1417320"/>
            <a:ext cx="548640" cy="548640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536192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606040" y="2103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Risks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3154680" y="2468880"/>
            <a:ext cx="594360" cy="36576"/>
          </a:xfrm>
          <a:prstGeom prst="roundRect">
            <a:avLst>
              <a:gd name="adj" fmla="val 50000"/>
            </a:avLst>
          </a:prstGeom>
          <a:solidFill>
            <a:srgbClr val="EA580C">
              <a:alpha val="50000"/>
            </a:srgbClr>
          </a:solidFill>
          <a:ln/>
        </p:spPr>
      </p:sp>
      <p:sp>
        <p:nvSpPr>
          <p:cNvPr id="19" name="Text 13"/>
          <p:cNvSpPr/>
          <p:nvPr/>
        </p:nvSpPr>
        <p:spPr>
          <a:xfrm>
            <a:off x="2651760" y="260604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attacks</a:t>
            </a:r>
            <a:endParaRPr lang="en-US" sz="10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0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extraction / theft</a:t>
            </a:r>
            <a:endParaRPr lang="en-US" sz="10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Backdoor implants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663440" y="1188720"/>
            <a:ext cx="1965960" cy="34290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321808" y="1417320"/>
            <a:ext cx="548640" cy="54864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1536192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754880" y="2103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Risks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5303520" y="2468880"/>
            <a:ext cx="594360" cy="36576"/>
          </a:xfrm>
          <a:prstGeom prst="roundRect">
            <a:avLst>
              <a:gd name="adj" fmla="val 50000"/>
            </a:avLst>
          </a:prstGeom>
          <a:solidFill>
            <a:srgbClr val="DC2626">
              <a:alpha val="50000"/>
            </a:srgbClr>
          </a:solidFill>
          <a:ln/>
        </p:spPr>
      </p:sp>
      <p:sp>
        <p:nvSpPr>
          <p:cNvPr id="25" name="Text 18"/>
          <p:cNvSpPr/>
          <p:nvPr/>
        </p:nvSpPr>
        <p:spPr>
          <a:xfrm>
            <a:off x="4800600" y="260604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</a:t>
            </a:r>
            <a:endParaRPr lang="en-US" sz="10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 decisions</a:t>
            </a:r>
            <a:endParaRPr lang="en-US" sz="10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Harmful content</a:t>
            </a:r>
            <a:endParaRPr lang="en-US" sz="10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 at scale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6812280" y="1188720"/>
            <a:ext cx="1965960" cy="34290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7470648" y="141732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1536192"/>
            <a:ext cx="310896" cy="31089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903720" y="2103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</a:t>
            </a:r>
            <a:endParaRPr lang="en-US" sz="1400" dirty="0"/>
          </a:p>
        </p:txBody>
      </p:sp>
      <p:sp>
        <p:nvSpPr>
          <p:cNvPr id="30" name="Shape 22"/>
          <p:cNvSpPr/>
          <p:nvPr/>
        </p:nvSpPr>
        <p:spPr>
          <a:xfrm>
            <a:off x="7452360" y="2468880"/>
            <a:ext cx="594360" cy="36576"/>
          </a:xfrm>
          <a:prstGeom prst="roundRect">
            <a:avLst>
              <a:gd name="adj" fmla="val 50000"/>
            </a:avLst>
          </a:prstGeom>
          <a:solidFill>
            <a:srgbClr val="7C3AED">
              <a:alpha val="50000"/>
            </a:srgbClr>
          </a:solidFill>
          <a:ln/>
        </p:spPr>
      </p:sp>
      <p:sp>
        <p:nvSpPr>
          <p:cNvPr id="31" name="Text 23"/>
          <p:cNvSpPr/>
          <p:nvPr/>
        </p:nvSpPr>
        <p:spPr>
          <a:xfrm>
            <a:off x="6949440" y="260604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AI adoption</a:t>
            </a:r>
            <a:endParaRPr lang="en-US" sz="10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Unvetted vendor models</a:t>
            </a:r>
            <a:endParaRPr lang="en-US" sz="10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trails</a:t>
            </a:r>
            <a:endParaRPr lang="en-US" sz="10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incident response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1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Regulatory Direction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40080" y="822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to get ahead of regulation is closing.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40080" y="1234440"/>
            <a:ext cx="78638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68680" y="1508760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0" name="Text 6"/>
          <p:cNvSpPr/>
          <p:nvPr/>
        </p:nvSpPr>
        <p:spPr>
          <a:xfrm>
            <a:off x="1097280" y="1307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European Union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097280" y="160020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— risk-based tiers, obligations in effect. Highest-risk AI faces strict transparency, testing, and documentation mandates.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7269480" y="146304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269480" y="14630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640080" y="2103120"/>
            <a:ext cx="78638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2377440"/>
            <a:ext cx="109728" cy="10972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6" name="Text 12"/>
          <p:cNvSpPr/>
          <p:nvPr/>
        </p:nvSpPr>
        <p:spPr>
          <a:xfrm>
            <a:off x="1097280" y="2176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097280" y="246888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with AI implications. MeitY advisory approach evolving. Sector regulators (RBI, SEBI, IRDAI) adding AI guardrails.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7269480" y="233172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 w="6350">
            <a:solidFill>
              <a:srgbClr val="EA580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269480" y="23317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</a:t>
            </a:r>
            <a:endParaRPr lang="en-US" sz="700" dirty="0"/>
          </a:p>
        </p:txBody>
      </p:sp>
      <p:sp>
        <p:nvSpPr>
          <p:cNvPr id="20" name="Shape 16"/>
          <p:cNvSpPr/>
          <p:nvPr/>
        </p:nvSpPr>
        <p:spPr>
          <a:xfrm>
            <a:off x="640080" y="2971800"/>
            <a:ext cx="78638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68680" y="3246120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2" name="Text 18"/>
          <p:cNvSpPr/>
          <p:nvPr/>
        </p:nvSpPr>
        <p:spPr>
          <a:xfrm>
            <a:off x="1097280" y="3044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United States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1097280" y="333756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but accelerating. Executive orders, NIST AI RMF gaining traction, state-level legislation (CO, CA).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7269480" y="320040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269480" y="32004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</a:t>
            </a:r>
            <a:endParaRPr lang="en-US" sz="700" dirty="0"/>
          </a:p>
        </p:txBody>
      </p:sp>
      <p:sp>
        <p:nvSpPr>
          <p:cNvPr id="26" name="Shape 22"/>
          <p:cNvSpPr/>
          <p:nvPr/>
        </p:nvSpPr>
        <p:spPr>
          <a:xfrm>
            <a:off x="640080" y="3840480"/>
            <a:ext cx="78638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68680" y="4114800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8" name="Text 24"/>
          <p:cNvSpPr/>
          <p:nvPr/>
        </p:nvSpPr>
        <p:spPr>
          <a:xfrm>
            <a:off x="1097280" y="3913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Sector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097280" y="420624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BFSI, healthcare, defense regulators worldwide layering AI-specific requirements on existing compliance frameworks.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7269480" y="406908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269480" y="40690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1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800" dirty="0"/>
          </a:p>
        </p:txBody>
      </p:sp>
      <p:sp>
        <p:nvSpPr>
          <p:cNvPr id="6" name="Shape 2"/>
          <p:cNvSpPr/>
          <p:nvPr/>
        </p:nvSpPr>
        <p:spPr>
          <a:xfrm>
            <a:off x="6400800" y="3200400"/>
            <a:ext cx="3657600" cy="3657600"/>
          </a:xfrm>
          <a:prstGeom prst="roundRect">
            <a:avLst>
              <a:gd name="adj" fmla="val 12500"/>
            </a:avLst>
          </a:prstGeom>
          <a:solidFill>
            <a:srgbClr val="ECFEFF"/>
          </a:solidFill>
          <a:ln/>
        </p:spPr>
      </p:sp>
      <p:sp>
        <p:nvSpPr>
          <p:cNvPr id="7" name="Text 3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ISO/IEC 42001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64008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Emerging Gold Standard for AI Management Systems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40080" y="1005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mandate today — a strategic asset for tomorrow.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40080" y="1417320"/>
            <a:ext cx="3794760" cy="269748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49808" y="1508760"/>
            <a:ext cx="3575304" cy="347472"/>
          </a:xfrm>
          <a:prstGeom prst="roundRect">
            <a:avLst>
              <a:gd name="adj" fmla="val 15789"/>
            </a:avLst>
          </a:prstGeom>
          <a:solidFill>
            <a:srgbClr val="ECFEFF"/>
          </a:solidFill>
          <a:ln/>
        </p:spPr>
      </p:sp>
      <p:sp>
        <p:nvSpPr>
          <p:cNvPr id="12" name="Shape 8"/>
          <p:cNvSpPr/>
          <p:nvPr/>
        </p:nvSpPr>
        <p:spPr>
          <a:xfrm>
            <a:off x="841248" y="1581912"/>
            <a:ext cx="73152" cy="7315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9"/>
          <p:cNvSpPr/>
          <p:nvPr/>
        </p:nvSpPr>
        <p:spPr>
          <a:xfrm>
            <a:off x="1005840" y="1508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Is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822960" y="196596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World's first AI Management System standard</a:t>
            </a:r>
            <a:endParaRPr lang="en-US" sz="105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by ISO/IEC — global credibility</a:t>
            </a:r>
            <a:endParaRPr lang="en-US" sz="105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AI policy, risk assessment, lifecycle controls, and supply chain management</a:t>
            </a:r>
            <a:endParaRPr lang="en-US" sz="105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complement ISO 27001 and SOC 2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663440" y="1417320"/>
            <a:ext cx="3794760" cy="269748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73168" y="1508760"/>
            <a:ext cx="3575304" cy="347472"/>
          </a:xfrm>
          <a:prstGeom prst="roundRect">
            <a:avLst>
              <a:gd name="adj" fmla="val 15789"/>
            </a:avLst>
          </a:prstGeom>
          <a:solidFill>
            <a:srgbClr val="FFFBEB"/>
          </a:solidFill>
          <a:ln/>
        </p:spPr>
      </p:sp>
      <p:sp>
        <p:nvSpPr>
          <p:cNvPr id="17" name="Shape 13"/>
          <p:cNvSpPr/>
          <p:nvPr/>
        </p:nvSpPr>
        <p:spPr>
          <a:xfrm>
            <a:off x="4864608" y="1581912"/>
            <a:ext cx="73152" cy="7315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8" name="Text 14"/>
          <p:cNvSpPr/>
          <p:nvPr/>
        </p:nvSpPr>
        <p:spPr>
          <a:xfrm>
            <a:off x="5029200" y="1508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 For Us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846320" y="196596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AI maturity to enterprise buyers and regulators</a:t>
            </a:r>
            <a:endParaRPr lang="en-US" sz="105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competitive moat — early adopters win trust faster</a:t>
            </a:r>
            <a:endParaRPr lang="en-US" sz="105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structured framework for all three product verticals</a:t>
            </a:r>
            <a:endParaRPr lang="en-US" sz="105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naturally to existing ISO 27001 / SOC 2 investments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40080" y="4343400"/>
            <a:ext cx="7863840" cy="384048"/>
          </a:xfrm>
          <a:prstGeom prst="roundRect">
            <a:avLst>
              <a:gd name="adj" fmla="val 23810"/>
            </a:avLst>
          </a:prstGeom>
          <a:solidFill>
            <a:srgbClr val="ECFEFF"/>
          </a:solidFill>
          <a:ln/>
          <a:effectLst>
            <a:outerShdw sx="100000" sy="100000" kx="0" ky="0" algn="bl" rotWithShape="0" blurRad="63500" dist="12700" dir="8100000">
              <a:srgbClr val="94A3B8">
                <a:alpha val="12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40080" y="43434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"Early adopters of ISO 42001 will have a significant competitive moat in enterprise sales."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1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Readiness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40080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 We Stand?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548640" y="1051560"/>
            <a:ext cx="8046720" cy="352044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77240" y="1261872"/>
            <a:ext cx="219456" cy="219456"/>
          </a:xfrm>
          <a:prstGeom prst="ellips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188720" y="11887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have a complete inventory of all AI systems across Finance, Education, and CX?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77240" y="1563624"/>
            <a:ext cx="7543800" cy="274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" name="Shape 8"/>
          <p:cNvSpPr/>
          <p:nvPr/>
        </p:nvSpPr>
        <p:spPr>
          <a:xfrm>
            <a:off x="777240" y="1673352"/>
            <a:ext cx="219456" cy="219456"/>
          </a:xfrm>
          <a:prstGeom prst="ellips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188720" y="16002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we classified each AI system by risk tier?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77240" y="1975104"/>
            <a:ext cx="7543800" cy="274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2084832"/>
            <a:ext cx="219456" cy="219456"/>
          </a:xfrm>
          <a:prstGeom prst="ellips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188720" y="20116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have an AI-specific acceptable use policy?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777240" y="2386584"/>
            <a:ext cx="7543800" cy="274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8" name="Shape 14"/>
          <p:cNvSpPr/>
          <p:nvPr/>
        </p:nvSpPr>
        <p:spPr>
          <a:xfrm>
            <a:off x="777240" y="2496312"/>
            <a:ext cx="219456" cy="219456"/>
          </a:xfrm>
          <a:prstGeom prst="ellips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188720" y="24231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monitoring AI outputs for bias, hallucination, and harmful content?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777240" y="2798064"/>
            <a:ext cx="7543800" cy="274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1" name="Shape 17"/>
          <p:cNvSpPr/>
          <p:nvPr/>
        </p:nvSpPr>
        <p:spPr>
          <a:xfrm>
            <a:off x="777240" y="2907792"/>
            <a:ext cx="219456" cy="219456"/>
          </a:xfrm>
          <a:prstGeom prst="ellips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188720" y="28346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assess third-party AI tools before adoption?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777240" y="3209544"/>
            <a:ext cx="7543800" cy="274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4" name="Shape 20"/>
          <p:cNvSpPr/>
          <p:nvPr/>
        </p:nvSpPr>
        <p:spPr>
          <a:xfrm>
            <a:off x="777240" y="3319272"/>
            <a:ext cx="219456" cy="219456"/>
          </a:xfrm>
          <a:prstGeom prst="ellips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188720" y="32461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defined governance owner and escalation path?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777240" y="3621024"/>
            <a:ext cx="7543800" cy="274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7" name="Shape 23"/>
          <p:cNvSpPr/>
          <p:nvPr/>
        </p:nvSpPr>
        <p:spPr>
          <a:xfrm>
            <a:off x="777240" y="3730752"/>
            <a:ext cx="219456" cy="219456"/>
          </a:xfrm>
          <a:prstGeom prst="ellips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188720" y="36576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have AI-specific incident response procedures?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777240" y="4032504"/>
            <a:ext cx="7543800" cy="274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0" name="Shape 26"/>
          <p:cNvSpPr/>
          <p:nvPr/>
        </p:nvSpPr>
        <p:spPr>
          <a:xfrm>
            <a:off x="777240" y="4142232"/>
            <a:ext cx="219456" cy="219456"/>
          </a:xfrm>
          <a:prstGeom prst="ellips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1188720" y="40690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demonstrate compliance evidence to a regulator or auditor today?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548640" y="4709160"/>
            <a:ext cx="8046720" cy="320040"/>
          </a:xfrm>
          <a:prstGeom prst="roundRect">
            <a:avLst>
              <a:gd name="adj" fmla="val 22857"/>
            </a:avLst>
          </a:prstGeom>
          <a:solidFill>
            <a:srgbClr val="FFFBEB"/>
          </a:solidFill>
          <a:ln/>
          <a:effectLst>
            <a:outerShdw sx="100000" sy="100000" kx="0" ky="0" algn="bl" rotWithShape="0" blurRad="63500" dist="12700" dir="8100000">
              <a:srgbClr val="94A3B8">
                <a:alpha val="12000"/>
              </a:srgbClr>
            </a:outerShdw>
          </a:effectLst>
        </p:spPr>
      </p:sp>
      <p:sp>
        <p:nvSpPr>
          <p:cNvPr id="33" name="Text 29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of these are a "no" — that's your starting point.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1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Roadmap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4008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 approach aligned with the GUARD framework.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411480" y="1188720"/>
            <a:ext cx="2606040" cy="33832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21208" y="1298448"/>
            <a:ext cx="2386584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10" name="Text 6"/>
          <p:cNvSpPr/>
          <p:nvPr/>
        </p:nvSpPr>
        <p:spPr>
          <a:xfrm>
            <a:off x="612648" y="131673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0–3 Mo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130552" y="1389888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2130552" y="13898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+ U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94360" y="1874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94360" y="2240280"/>
            <a:ext cx="640080" cy="36576"/>
          </a:xfrm>
          <a:prstGeom prst="roundRect">
            <a:avLst>
              <a:gd name="adj" fmla="val 50000"/>
            </a:avLst>
          </a:prstGeom>
          <a:solidFill>
            <a:srgbClr val="0891B2">
              <a:alpha val="5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594360" y="237744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 inventory across all verticals</a:t>
            </a:r>
            <a:endParaRPr lang="en-US" sz="100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risk classification</a:t>
            </a:r>
            <a:endParaRPr lang="en-US" sz="100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&amp; ownership mapping</a:t>
            </a:r>
            <a:endParaRPr lang="en-US" sz="100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assessment vs ISO 42001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246120" y="1188720"/>
            <a:ext cx="2606040" cy="33832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355848" y="1298448"/>
            <a:ext cx="2386584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/>
        </p:spPr>
      </p:sp>
      <p:sp>
        <p:nvSpPr>
          <p:cNvPr id="18" name="Text 14"/>
          <p:cNvSpPr/>
          <p:nvPr/>
        </p:nvSpPr>
        <p:spPr>
          <a:xfrm>
            <a:off x="3447288" y="131673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3–6 Mo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965192" y="1389888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4965192" y="13898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+ R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3429000" y="1874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3429000" y="2240280"/>
            <a:ext cx="640080" cy="36576"/>
          </a:xfrm>
          <a:prstGeom prst="roundRect">
            <a:avLst>
              <a:gd name="adj" fmla="val 50000"/>
            </a:avLst>
          </a:prstGeom>
          <a:solidFill>
            <a:srgbClr val="7C3AED">
              <a:alpha val="5000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3429000" y="237744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acceptable use policy &amp; charter</a:t>
            </a:r>
            <a:endParaRPr lang="en-US" sz="100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Risk-tiered control implementation</a:t>
            </a:r>
            <a:endParaRPr lang="en-US" sz="100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AI assessment framework</a:t>
            </a:r>
            <a:endParaRPr lang="en-US" sz="100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&amp; evidence collection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080760" y="1188720"/>
            <a:ext cx="2606040" cy="33832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190488" y="1298448"/>
            <a:ext cx="2386584" cy="457200"/>
          </a:xfrm>
          <a:prstGeom prst="roundRect">
            <a:avLst>
              <a:gd name="adj" fmla="val 16000"/>
            </a:avLst>
          </a:prstGeom>
          <a:solidFill>
            <a:srgbClr val="D97706"/>
          </a:solidFill>
          <a:ln/>
        </p:spPr>
      </p:sp>
      <p:sp>
        <p:nvSpPr>
          <p:cNvPr id="26" name="Text 22"/>
          <p:cNvSpPr/>
          <p:nvPr/>
        </p:nvSpPr>
        <p:spPr>
          <a:xfrm>
            <a:off x="6281928" y="131673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6–12 Mo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7799832" y="1389888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8" name="Text 24"/>
          <p:cNvSpPr/>
          <p:nvPr/>
        </p:nvSpPr>
        <p:spPr>
          <a:xfrm>
            <a:off x="7799832" y="13898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263640" y="1874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OPERATIONALIZE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6263640" y="2240280"/>
            <a:ext cx="640080" cy="36576"/>
          </a:xfrm>
          <a:prstGeom prst="roundRect">
            <a:avLst>
              <a:gd name="adj" fmla="val 50000"/>
            </a:avLst>
          </a:prstGeom>
          <a:solidFill>
            <a:srgbClr val="D97706">
              <a:alpha val="50000"/>
            </a:srgbClr>
          </a:solidFill>
          <a:ln/>
        </p:spPr>
      </p:sp>
      <p:sp>
        <p:nvSpPr>
          <p:cNvPr id="31" name="Text 27"/>
          <p:cNvSpPr/>
          <p:nvPr/>
        </p:nvSpPr>
        <p:spPr>
          <a:xfrm>
            <a:off x="6263640" y="237744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output monitoring</a:t>
            </a:r>
            <a:endParaRPr lang="en-US" sz="100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testing program</a:t>
            </a:r>
            <a:endParaRPr lang="en-US" sz="100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reporting cadence</a:t>
            </a:r>
            <a:endParaRPr lang="en-US" sz="1000" dirty="0"/>
          </a:p>
          <a:p>
            <a:pPr marL="342900" indent="-342900">
              <a:lnSpc>
                <a:spcPct val="165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42001 certification readiness</a:t>
            </a:r>
            <a:endParaRPr lang="en-US" sz="1000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2743200"/>
            <a:ext cx="182880" cy="182880"/>
          </a:xfrm>
          <a:prstGeom prst="rect">
            <a:avLst/>
          </a:prstGeom>
        </p:spPr>
      </p:pic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2743200"/>
            <a:ext cx="182880" cy="182880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411480" y="4709160"/>
            <a:ext cx="8321040" cy="320040"/>
          </a:xfrm>
          <a:prstGeom prst="roundRect">
            <a:avLst>
              <a:gd name="adj" fmla="val 2285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63500" dist="12700" dir="8100000">
              <a:srgbClr val="94A3B8">
                <a:alpha val="12000"/>
              </a:srgbClr>
            </a:outerShdw>
          </a:effectLst>
        </p:spPr>
      </p:sp>
      <p:sp>
        <p:nvSpPr>
          <p:cNvPr id="35" name="Text 29"/>
          <p:cNvSpPr/>
          <p:nvPr/>
        </p:nvSpPr>
        <p:spPr>
          <a:xfrm>
            <a:off x="411480" y="47091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"As the market leader, our governance posture sets the benchmark. We move first."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0" y="-914400"/>
            <a:ext cx="4114800" cy="4114800"/>
          </a:xfrm>
          <a:prstGeom prst="roundRect">
            <a:avLst>
              <a:gd name="adj" fmla="val 11111"/>
            </a:avLst>
          </a:prstGeom>
          <a:solidFill>
            <a:srgbClr val="06B6D4">
              <a:alpha val="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051560"/>
            <a:ext cx="7863840" cy="713232"/>
          </a:xfrm>
          <a:prstGeom prst="roundRect">
            <a:avLst>
              <a:gd name="adj" fmla="val 1538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822960" y="1344168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10972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600200" y="1143000"/>
            <a:ext cx="662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is not optional — it's a business-critical, board-level priority for any company building and deploying AI at scale.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1920240"/>
            <a:ext cx="7863840" cy="713232"/>
          </a:xfrm>
          <a:prstGeom prst="roundRect">
            <a:avLst>
              <a:gd name="adj" fmla="val 1538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221284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19659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600200" y="2011680"/>
            <a:ext cx="662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three verticals — Finance, Education, and CX — carry distinct risk profiles that demand tailored governance, not a generic checklist.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2788920"/>
            <a:ext cx="7863840" cy="713232"/>
          </a:xfrm>
          <a:prstGeom prst="roundRect">
            <a:avLst>
              <a:gd name="adj" fmla="val 1538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22960" y="308152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283464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600200" y="2880360"/>
            <a:ext cx="662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 framework gives us a shared vocabulary and structured path: Govern, Understand, Assess, Regulate, Defend.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0080" y="3657600"/>
            <a:ext cx="7863840" cy="713232"/>
          </a:xfrm>
          <a:prstGeom prst="roundRect">
            <a:avLst>
              <a:gd name="adj" fmla="val 1538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" y="3950208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1005840" y="370332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1600200" y="3749040"/>
            <a:ext cx="662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now creates competitive advantage. Waiting creates regulatory, reputational, and commercial liability.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434840" y="4572000"/>
            <a:ext cx="64008" cy="6400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2" name="Shape 19"/>
          <p:cNvSpPr/>
          <p:nvPr/>
        </p:nvSpPr>
        <p:spPr>
          <a:xfrm>
            <a:off x="4553712" y="4572000"/>
            <a:ext cx="64008" cy="64008"/>
          </a:xfrm>
          <a:prstGeom prst="ellipse">
            <a:avLst/>
          </a:prstGeom>
          <a:solidFill>
            <a:srgbClr val="06B6D4">
              <a:alpha val="70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4672584" y="4572000"/>
            <a:ext cx="64008" cy="64008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0" y="5029200"/>
            <a:ext cx="9144000" cy="114300"/>
          </a:xfrm>
          <a:prstGeom prst="roundRect">
            <a:avLst>
              <a:gd name="adj" fmla="val 48000"/>
            </a:avLst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Governance: A Compliance &amp; Security Imperative</dc:title>
  <dc:subject>PptxGenJS Presentation</dc:subject>
  <dc:creator>SecComply</dc:creator>
  <cp:lastModifiedBy>SecComply</cp:lastModifiedBy>
  <cp:revision>1</cp:revision>
  <dcterms:created xsi:type="dcterms:W3CDTF">2026-03-16T18:29:48Z</dcterms:created>
  <dcterms:modified xsi:type="dcterms:W3CDTF">2026-03-16T18:29:48Z</dcterms:modified>
</cp:coreProperties>
</file>