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17920" y="-137160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06B6D4">
              <a:alpha val="7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6858000" y="-73152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06B6D4">
              <a:alpha val="10000"/>
            </a:srgbClr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731520" y="2331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&amp; Security Imperative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731520" y="297180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7315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Leadership Briefing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31520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0" y="5029200"/>
            <a:ext cx="9144000" cy="114300"/>
          </a:xfrm>
          <a:prstGeom prst="roundRect">
            <a:avLst>
              <a:gd name="adj" fmla="val 48000"/>
            </a:avLst>
          </a:prstGeom>
          <a:solidFill>
            <a:srgbClr val="06B6D4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Conversation, Why Now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are converging that make AI governance a board-level priority.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150876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7373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400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has begun. India's DPDP Act carries AI implications. Sector rules in BFSI, healthcare, and education are tightening globally.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33756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520440" y="150876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1"/>
          <p:cNvSpPr/>
          <p:nvPr/>
        </p:nvSpPr>
        <p:spPr>
          <a:xfrm>
            <a:off x="352044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7373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2044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Expectations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52044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now demand AI governance evidence in procurement, RFPs, and vendor risk assessments. It's becoming a deal-breaker.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1792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150876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73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0080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largest AI company, a single governance failure becomes headline news. Market leaders are targets — and examples.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"Market leaders don't wait for regulation — they set the standard."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Governance Actually Means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interlocking disciplines that protect your AI investments.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1325880"/>
            <a:ext cx="7863840" cy="1005840"/>
          </a:xfrm>
          <a:prstGeom prst="roundRect">
            <a:avLst>
              <a:gd name="adj" fmla="val 10909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64592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14173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6B6D4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64592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Risk Management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45920" y="18013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Identifying, classifying, and mitigating risks across the entire AI lifecycle — from training data to production outputs.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00200"/>
            <a:ext cx="365760" cy="365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2514600"/>
            <a:ext cx="7863840" cy="1005840"/>
          </a:xfrm>
          <a:prstGeom prst="roundRect">
            <a:avLst>
              <a:gd name="adj" fmla="val 10909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1"/>
          <p:cNvSpPr/>
          <p:nvPr/>
        </p:nvSpPr>
        <p:spPr>
          <a:xfrm>
            <a:off x="1097280" y="26060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8B5CF6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1645920" y="2624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29900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regulatory, contractual, and industry-standard obligations. Demonstrating adherence to ISO 42001, EU AI Act, and sector rules.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88920"/>
            <a:ext cx="365760" cy="365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" y="3703320"/>
            <a:ext cx="7863840" cy="1005840"/>
          </a:xfrm>
          <a:prstGeom prst="roundRect">
            <a:avLst>
              <a:gd name="adj" fmla="val 10909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023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6"/>
          <p:cNvSpPr/>
          <p:nvPr/>
        </p:nvSpPr>
        <p:spPr>
          <a:xfrm>
            <a:off x="1097280" y="3794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59E0B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1645920" y="3813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Security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645920" y="4178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models, training data, inference pipelines, and outputs from adversarial threats, data leakage, and operational failures.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9776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Exposure: Risk Across Three Verticals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one-size-fits-all. Each product carries a distinct risk profile.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94360" y="1325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6B6D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1005840" y="21031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0584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31520" y="25146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in credit &amp; lending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mandates (BFSI)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&amp; auditability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 (RBI, SEBI, EU)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33756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74720" y="1325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173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233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3886200" y="21031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88620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RISK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611880" y="25146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privacy (minors)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data protection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hallucination risk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 assessments / recs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21792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55080" y="13258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CX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766560" y="21031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7665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492240" y="25146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in conversations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impersonation threats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 / harmful outputs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&amp; transparency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6858000" y="-91440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06B6D4">
              <a:alpha val="6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GUARD Framework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AI governance — from visibility to defense.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1481328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4356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1691640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691640" y="16916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policies, roles, and accountability. Define who owns AI governance at board, leadership, and operational levels.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57200" y="207568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2139696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128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0939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1691640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691640" y="23500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all AI systems — built and bought. Map data flows, model dependencies, and third-party AI. You can't govern what you can't see.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57200" y="273405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2798064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7121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27523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1691640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691640" y="30083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AI system by risk tier. Evaluate across verticals. Run gap analysis against regulatory requirements and benchmarks.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57200" y="339242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40080" y="345643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29584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34440" y="34107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31" name="Text 23"/>
          <p:cNvSpPr/>
          <p:nvPr/>
        </p:nvSpPr>
        <p:spPr>
          <a:xfrm>
            <a:off x="1691640" y="3438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691640" y="366674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lifecycle controls — design through deployment to monitoring. Build audit trails and compliance evidence.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87952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34440" y="4069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7" name="Text 28"/>
          <p:cNvSpPr/>
          <p:nvPr/>
        </p:nvSpPr>
        <p:spPr>
          <a:xfrm>
            <a:off x="1691640" y="4096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691640" y="43251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— adversarial testing, prompt injection defenses, incident response, output monitoring, third-party risk mitigation.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457200" y="4754880"/>
            <a:ext cx="8229600" cy="274320"/>
          </a:xfrm>
          <a:prstGeom prst="roundRect">
            <a:avLst>
              <a:gd name="adj" fmla="val 26667"/>
            </a:avLst>
          </a:prstGeom>
          <a:solidFill>
            <a:srgbClr val="164E6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future governance conversation starts with: "Where are we on GUARD?"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 Across Our Three Verticals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framework, different risk weights.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1143000"/>
            <a:ext cx="8412480" cy="3767328"/>
          </a:xfrm>
          <a:prstGeom prst="roundRect">
            <a:avLst>
              <a:gd name="adj" fmla="val 3641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29768" y="1188720"/>
            <a:ext cx="1152144" cy="338328"/>
          </a:xfrm>
          <a:prstGeom prst="roundRect">
            <a:avLst>
              <a:gd name="adj" fmla="val 16216"/>
            </a:avLst>
          </a:prstGeom>
          <a:solidFill>
            <a:srgbClr val="1E2A3A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1161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618488" y="1188720"/>
            <a:ext cx="2386584" cy="338328"/>
          </a:xfrm>
          <a:prstGeom prst="roundRect">
            <a:avLst>
              <a:gd name="adj" fmla="val 16216"/>
            </a:avLst>
          </a:prstGeom>
          <a:solidFill>
            <a:srgbClr val="06B6D4"/>
          </a:solidFill>
          <a:ln/>
        </p:spPr>
      </p:sp>
      <p:sp>
        <p:nvSpPr>
          <p:cNvPr id="12" name="Text 8"/>
          <p:cNvSpPr/>
          <p:nvPr/>
        </p:nvSpPr>
        <p:spPr>
          <a:xfrm>
            <a:off x="1600200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41648" y="1188720"/>
            <a:ext cx="2386584" cy="338328"/>
          </a:xfrm>
          <a:prstGeom prst="roundRect">
            <a:avLst>
              <a:gd name="adj" fmla="val 16216"/>
            </a:avLst>
          </a:prstGeom>
          <a:solidFill>
            <a:srgbClr val="8B5CF6"/>
          </a:solidFill>
          <a:ln/>
        </p:spPr>
      </p:sp>
      <p:sp>
        <p:nvSpPr>
          <p:cNvPr id="14" name="Text 10"/>
          <p:cNvSpPr/>
          <p:nvPr/>
        </p:nvSpPr>
        <p:spPr>
          <a:xfrm>
            <a:off x="4023360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64808" y="1188720"/>
            <a:ext cx="2249424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6446520" y="1161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18288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15727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Govern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591056" y="1664208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0" name="Text 16"/>
          <p:cNvSpPr/>
          <p:nvPr/>
        </p:nvSpPr>
        <p:spPr>
          <a:xfrm>
            <a:off x="1673352" y="1572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AI ethics committee; BFSI compliance officer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14216" y="1664208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2" name="Text 18"/>
          <p:cNvSpPr/>
          <p:nvPr/>
        </p:nvSpPr>
        <p:spPr>
          <a:xfrm>
            <a:off x="4096512" y="1572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officer; student privacy owner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437376" y="1664208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4" name="Text 20"/>
          <p:cNvSpPr/>
          <p:nvPr/>
        </p:nvSpPr>
        <p:spPr>
          <a:xfrm>
            <a:off x="6519672" y="157276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AI policy owner; output quality lead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02920" y="2231136"/>
            <a:ext cx="8138160" cy="45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6" name="Shape 22"/>
          <p:cNvSpPr/>
          <p:nvPr/>
        </p:nvSpPr>
        <p:spPr>
          <a:xfrm>
            <a:off x="502920" y="248716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" y="223113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Understand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591056" y="2322576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9" name="Text 25"/>
          <p:cNvSpPr/>
          <p:nvPr/>
        </p:nvSpPr>
        <p:spPr>
          <a:xfrm>
            <a:off x="1673352" y="22311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credit-scoring &amp; risk models; full data lineage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014216" y="2322576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1" name="Text 27"/>
          <p:cNvSpPr/>
          <p:nvPr/>
        </p:nvSpPr>
        <p:spPr>
          <a:xfrm>
            <a:off x="4096512" y="22311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student-facing AI; training data audit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437376" y="2322576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3" name="Text 29"/>
          <p:cNvSpPr/>
          <p:nvPr/>
        </p:nvSpPr>
        <p:spPr>
          <a:xfrm>
            <a:off x="6519672" y="22311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chatbots, rec engines, voice AI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02920" y="2889504"/>
            <a:ext cx="8138160" cy="45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5" name="Shape 31"/>
          <p:cNvSpPr/>
          <p:nvPr/>
        </p:nvSpPr>
        <p:spPr>
          <a:xfrm>
            <a:off x="502920" y="314553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2"/>
          <p:cNvSpPr/>
          <p:nvPr/>
        </p:nvSpPr>
        <p:spPr>
          <a:xfrm>
            <a:off x="685800" y="288950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Assess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591056" y="2980944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8" name="Text 34"/>
          <p:cNvSpPr/>
          <p:nvPr/>
        </p:nvSpPr>
        <p:spPr>
          <a:xfrm>
            <a:off x="1673352" y="2889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classification; bias testing on financial decisions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014216" y="2980944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0" name="Text 36"/>
          <p:cNvSpPr/>
          <p:nvPr/>
        </p:nvSpPr>
        <p:spPr>
          <a:xfrm>
            <a:off x="4096512" y="2889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risk; fairness audit on assessments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437376" y="2980944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2" name="Text 38"/>
          <p:cNvSpPr/>
          <p:nvPr/>
        </p:nvSpPr>
        <p:spPr>
          <a:xfrm>
            <a:off x="6519672" y="28895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risk; PII exposure &amp; output quality review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02920" y="3547872"/>
            <a:ext cx="8138160" cy="45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4" name="Shape 40"/>
          <p:cNvSpPr/>
          <p:nvPr/>
        </p:nvSpPr>
        <p:spPr>
          <a:xfrm>
            <a:off x="502920" y="38039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1"/>
          <p:cNvSpPr/>
          <p:nvPr/>
        </p:nvSpPr>
        <p:spPr>
          <a:xfrm>
            <a:off x="685800" y="35478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Regulate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1591056" y="3639312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7" name="Text 43"/>
          <p:cNvSpPr/>
          <p:nvPr/>
        </p:nvSpPr>
        <p:spPr>
          <a:xfrm>
            <a:off x="1673352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controls; audit trails; model versioning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4014216" y="3639312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9" name="Text 45"/>
          <p:cNvSpPr/>
          <p:nvPr/>
        </p:nvSpPr>
        <p:spPr>
          <a:xfrm>
            <a:off x="4096512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data handling; content review gates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6437376" y="3639312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51" name="Text 47"/>
          <p:cNvSpPr/>
          <p:nvPr/>
        </p:nvSpPr>
        <p:spPr>
          <a:xfrm>
            <a:off x="6519672" y="35478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guardrails; brand safety filters; escalation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502920" y="4206240"/>
            <a:ext cx="8138160" cy="4572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53" name="Shape 49"/>
          <p:cNvSpPr/>
          <p:nvPr/>
        </p:nvSpPr>
        <p:spPr>
          <a:xfrm>
            <a:off x="502920" y="44622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50"/>
          <p:cNvSpPr/>
          <p:nvPr/>
        </p:nvSpPr>
        <p:spPr>
          <a:xfrm>
            <a:off x="685800" y="42062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Defend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1591056" y="4297680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56" name="Text 52"/>
          <p:cNvSpPr/>
          <p:nvPr/>
        </p:nvSpPr>
        <p:spPr>
          <a:xfrm>
            <a:off x="1673352" y="4206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testing; fraud detection hardening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4014216" y="4297680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58" name="Text 54"/>
          <p:cNvSpPr/>
          <p:nvPr/>
        </p:nvSpPr>
        <p:spPr>
          <a:xfrm>
            <a:off x="4096512" y="4206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encryption; access controls for student data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6437376" y="4297680"/>
            <a:ext cx="9144" cy="47548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60" name="Text 56"/>
          <p:cNvSpPr/>
          <p:nvPr/>
        </p:nvSpPr>
        <p:spPr>
          <a:xfrm>
            <a:off x="6519672" y="42062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defense; deepfake detection; DLP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Threat Landscape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CISOs up at night — and should concern every board member.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123444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005840" y="146304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3619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Risks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00584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50292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in datasets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contamination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data usage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514600" y="123444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154680" y="146304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3619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060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15468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F97316">
              <a:alpha val="5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265176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 / theft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implants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63440" y="123444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303520" y="146304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3619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48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Risks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30352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80060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decisions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content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at scale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812280" y="123444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52360" y="146304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53619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0372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45236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694944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adoption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Unvetted vendor models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Regulatory Direction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get ahead of regulation is closing.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1234440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5361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Union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16184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risk-based tiers, obligations in effect. Highest-risk AI faces strict transparency, testing, and documentation mandates.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223760" y="14813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23760" y="1481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640080" y="2130552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243230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97280" y="2514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with AI implications. MeitY advisory approach evolving. Sector regulators (RBI, SEBI, IRDAI) adding AI guardrails.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223760" y="237744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97316">
              <a:alpha val="18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23760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40080" y="3026664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8680" y="33284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097280" y="34107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but accelerating. Executive orders, NIST AI RMF gaining traction, state-level legislation (CO, CA).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223760" y="32735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2376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640080" y="3922776"/>
            <a:ext cx="7863840" cy="749808"/>
          </a:xfrm>
          <a:prstGeom prst="roundRect">
            <a:avLst>
              <a:gd name="adj" fmla="val 1219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68680" y="4224528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4"/>
          <p:cNvSpPr/>
          <p:nvPr/>
        </p:nvSpPr>
        <p:spPr>
          <a:xfrm>
            <a:off x="109728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Sector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97280" y="430682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BFSI, healthcare, defense regulators worldwide layering AI-specific requirements on existing compliance frameworks.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223760" y="416966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23760" y="41696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6400800" y="274320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06B6D4">
              <a:alpha val="6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ISO/IEC 42001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Emerging Gold Standard for AI Management Systems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005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mandate today — a strategic asset for tomorrow.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3794760" cy="2788920"/>
          </a:xfrm>
          <a:prstGeom prst="roundRect">
            <a:avLst>
              <a:gd name="adj" fmla="val 491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152704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868680" y="1600200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9"/>
          <p:cNvSpPr/>
          <p:nvPr/>
        </p:nvSpPr>
        <p:spPr>
          <a:xfrm>
            <a:off x="105156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20116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AI Management System standard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ISO/IEC — global credibility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AI policy, risk assessment, lifecycle controls, and supply chain management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complement ISO 27001 and SOC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417320"/>
            <a:ext cx="3794760" cy="2788920"/>
          </a:xfrm>
          <a:prstGeom prst="roundRect">
            <a:avLst>
              <a:gd name="adj" fmla="val 4918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152704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892040" y="16002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50749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For 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92040" y="20116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AI maturity to enterprise buyers and regulators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competitive moat — early adopters win trust faster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 framework for all three product verticals</a:t>
            </a:r>
            <a:endParaRPr lang="en-US" sz="10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naturally to existing ISO 27001 / SOC 2 investments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" y="4434840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164E6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080" y="4434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"Early adopters of ISO 42001 will have a significant competitive moat in enterprise sales."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Readiness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Stand?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1051560"/>
            <a:ext cx="8046720" cy="3611880"/>
          </a:xfrm>
          <a:prstGeom prst="roundRect">
            <a:avLst>
              <a:gd name="adj" fmla="val 3797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77240" y="1261872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872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 complete inventory of all AI systems across Finance, Education, and CX?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7240" y="1572768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1691640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88720" y="16184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classified each AI system by risk tier?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2002536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2121408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8720" y="20482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an AI-specific acceptable use policy?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" y="2432304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2551176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88720" y="24780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monitoring AI outputs for bias, hallucination, and harmful content?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77240" y="2862072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" y="2980944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88720" y="29077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assess third-party AI tools before adoption?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77240" y="3291840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4" name="Shape 20"/>
          <p:cNvSpPr/>
          <p:nvPr/>
        </p:nvSpPr>
        <p:spPr>
          <a:xfrm>
            <a:off x="777240" y="3410712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defined governance owner and escalation path?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77240" y="3721608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7" name="Shape 23"/>
          <p:cNvSpPr/>
          <p:nvPr/>
        </p:nvSpPr>
        <p:spPr>
          <a:xfrm>
            <a:off x="777240" y="3840480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88720" y="3767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AI-specific incident response procedures?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77240" y="4151376"/>
            <a:ext cx="7498080" cy="2743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0" name="Shape 26"/>
          <p:cNvSpPr/>
          <p:nvPr/>
        </p:nvSpPr>
        <p:spPr>
          <a:xfrm>
            <a:off x="777240" y="4270248"/>
            <a:ext cx="219456" cy="219456"/>
          </a:xfrm>
          <a:prstGeom prst="ellips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88720" y="41970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demonstrate compliance evidence to a regulator or auditor today?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4754880"/>
            <a:ext cx="8046720" cy="292608"/>
          </a:xfrm>
          <a:prstGeom prst="roundRect">
            <a:avLst>
              <a:gd name="adj" fmla="val 25000"/>
            </a:avLst>
          </a:prstGeom>
          <a:solidFill>
            <a:srgbClr val="78350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are a "no" — that's your starting 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Roadmap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aligned with the GUARD framework.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11480" y="1188720"/>
            <a:ext cx="2651760" cy="3429000"/>
          </a:xfrm>
          <a:prstGeom prst="roundRect">
            <a:avLst>
              <a:gd name="adj" fmla="val 5172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21208" y="1298448"/>
            <a:ext cx="2432304" cy="502920"/>
          </a:xfrm>
          <a:prstGeom prst="roundRect">
            <a:avLst>
              <a:gd name="adj" fmla="val 14545"/>
            </a:avLst>
          </a:prstGeom>
          <a:solidFill>
            <a:srgbClr val="06B6D4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0–3 Months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148840" y="13990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148840" y="13990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U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" y="228600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inventory across all verticals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 classification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ownership mapping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 vs ISO 42001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1188720"/>
            <a:ext cx="2651760" cy="3429000"/>
          </a:xfrm>
          <a:prstGeom prst="roundRect">
            <a:avLst>
              <a:gd name="adj" fmla="val 5172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01568" y="1298448"/>
            <a:ext cx="2432304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352044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3–6 Months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029200" y="13990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0" y="13990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747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474720" y="228600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acceptable use policy &amp; charter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control implementation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assessment framework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evidence collection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72200" y="1188720"/>
            <a:ext cx="2651760" cy="3429000"/>
          </a:xfrm>
          <a:prstGeom prst="roundRect">
            <a:avLst>
              <a:gd name="adj" fmla="val 5172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81928" y="1298448"/>
            <a:ext cx="243230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6–12 Months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909560" y="13990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7909560" y="13990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OPERATIONALIZE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355080" y="228600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635508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 monitoring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program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reporting cadence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certification readiness</a:t>
            </a:r>
            <a:endParaRPr lang="en-US" sz="10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743200"/>
            <a:ext cx="182880" cy="18288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43200"/>
            <a:ext cx="182880" cy="1828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411480" y="4754880"/>
            <a:ext cx="8321040" cy="292608"/>
          </a:xfrm>
          <a:prstGeom prst="roundRect">
            <a:avLst>
              <a:gd name="adj" fmla="val 25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 the market leader, our governance posture sets the benchmark. We move first."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0" y="-914400"/>
            <a:ext cx="4114800" cy="4114800"/>
          </a:xfrm>
          <a:prstGeom prst="roundRect">
            <a:avLst>
              <a:gd name="adj" fmla="val 11111"/>
            </a:avLst>
          </a:prstGeom>
          <a:solidFill>
            <a:srgbClr val="06B6D4">
              <a:alpha val="6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40080" y="105156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22960" y="134416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4"/>
          <p:cNvSpPr/>
          <p:nvPr/>
        </p:nvSpPr>
        <p:spPr>
          <a:xfrm>
            <a:off x="100584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1600200" y="114300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not optional — it's a business-critical, board-level priority for any company building and deploying AI at scale.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192024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221284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1600200" y="201168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verticals — Finance, Education, and CX — carry distinct risk profiles that demand tailored governance, not a generic checklist.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78892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081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1005840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1600200" y="288036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framework gives us a shared vocabulary and structured path: Govern, Understand, Assess, Regulate, Defend.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365760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151D2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6"/>
          <p:cNvSpPr/>
          <p:nvPr/>
        </p:nvSpPr>
        <p:spPr>
          <a:xfrm>
            <a:off x="1005840" y="3703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1600200" y="37490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now creates competitive advantage. Waiting creates regulatory, reputational, and commercial liability.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434840" y="457200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Shape 19"/>
          <p:cNvSpPr/>
          <p:nvPr/>
        </p:nvSpPr>
        <p:spPr>
          <a:xfrm>
            <a:off x="4553712" y="45720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4672584" y="4572000"/>
            <a:ext cx="64008" cy="64008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0" y="5029200"/>
            <a:ext cx="9144000" cy="114300"/>
          </a:xfrm>
          <a:prstGeom prst="roundRect">
            <a:avLst>
              <a:gd name="adj" fmla="val 48000"/>
            </a:avLst>
          </a:prstGeom>
          <a:solidFill>
            <a:srgbClr val="06B6D4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Governance: A Compliance &amp; Security Imperative</dc:title>
  <dc:subject>PptxGenJS Presentation</dc:subject>
  <dc:creator>SecComply</dc:creator>
  <cp:lastModifiedBy>SecComply</cp:lastModifiedBy>
  <cp:revision>1</cp:revision>
  <dcterms:created xsi:type="dcterms:W3CDTF">2026-03-16T18:23:21Z</dcterms:created>
  <dcterms:modified xsi:type="dcterms:W3CDTF">2026-03-16T18:23:21Z</dcterms:modified>
</cp:coreProperties>
</file>